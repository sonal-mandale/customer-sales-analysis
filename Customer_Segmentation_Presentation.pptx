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60" r:id="rId17"/>
    <p:sldId id="261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7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449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50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4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039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57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619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39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58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94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90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175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2957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857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187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72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48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78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366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066" y="2369025"/>
            <a:ext cx="8632400" cy="2230271"/>
          </a:xfrm>
        </p:spPr>
        <p:txBody>
          <a:bodyPr/>
          <a:lstStyle/>
          <a:p>
            <a:br>
              <a:rPr lang="en-US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dirty="0"/>
              <a:t>Customer Segmentation &amp; Shopping Behavior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2955" y="5475596"/>
            <a:ext cx="6271146" cy="1752600"/>
          </a:xfrm>
        </p:spPr>
        <p:txBody>
          <a:bodyPr/>
          <a:lstStyle/>
          <a:p>
            <a:r>
              <a:rPr lang="en-US" dirty="0"/>
              <a:t>SQL &amp; </a:t>
            </a:r>
            <a:r>
              <a:rPr dirty="0"/>
              <a:t>Power BI Dashboard </a:t>
            </a:r>
            <a:endParaRPr lang="en-US" dirty="0"/>
          </a:p>
          <a:p>
            <a:r>
              <a:rPr dirty="0"/>
              <a:t>Capstone Project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2052925"/>
            <a:ext cx="7681679" cy="4195481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Objective: Analyze customer shopping behavior using </a:t>
            </a:r>
            <a:r>
              <a:rPr lang="en-US" dirty="0"/>
              <a:t>SQL &amp; </a:t>
            </a:r>
            <a:r>
              <a:rPr dirty="0"/>
              <a:t>Power BI</a:t>
            </a:r>
          </a:p>
          <a:p>
            <a:pPr marL="0" indent="0">
              <a:buNone/>
            </a:pPr>
            <a:r>
              <a:rPr dirty="0"/>
              <a:t>• Understand gender, age, category, and payment insights</a:t>
            </a:r>
          </a:p>
          <a:p>
            <a:pPr marL="0" indent="0">
              <a:buNone/>
            </a:pPr>
            <a:r>
              <a:rPr dirty="0"/>
              <a:t>• Build interactive dashboard for better decision-making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Source: MySQL Database (customer table)</a:t>
            </a:r>
          </a:p>
          <a:p>
            <a:pPr marL="0" indent="0">
              <a:buNone/>
            </a:pPr>
            <a:r>
              <a:rPr dirty="0"/>
              <a:t>• Columns include: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  - age, gender, category, </a:t>
            </a:r>
            <a:r>
              <a:rPr dirty="0" err="1"/>
              <a:t>shopping_mall</a:t>
            </a:r>
            <a:endParaRPr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   - </a:t>
            </a:r>
            <a:r>
              <a:rPr dirty="0" err="1"/>
              <a:t>invoice_date</a:t>
            </a:r>
            <a:r>
              <a:rPr dirty="0"/>
              <a:t>, </a:t>
            </a:r>
            <a:r>
              <a:rPr dirty="0" err="1"/>
              <a:t>invoice_no</a:t>
            </a:r>
            <a:endParaRPr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   - </a:t>
            </a:r>
            <a:r>
              <a:rPr dirty="0" err="1"/>
              <a:t>payment_method</a:t>
            </a:r>
            <a:r>
              <a:rPr dirty="0"/>
              <a:t>, price, quantity</a:t>
            </a:r>
          </a:p>
          <a:p>
            <a:pPr marL="0" indent="0">
              <a:buNone/>
            </a:pPr>
            <a:r>
              <a:rPr dirty="0"/>
              <a:t>• Total Sales measure created using </a:t>
            </a:r>
            <a:r>
              <a:rPr lang="en-US" dirty="0"/>
              <a:t>(</a:t>
            </a:r>
            <a:r>
              <a:rPr dirty="0"/>
              <a:t>price × quantity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000">
        <p159:morph option="byObject"/>
      </p:transition>
    </mc:Choice>
    <mc:Fallback xmlns="">
      <p:transition spd="slow" advTm="5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Gender Distribution Chart</a:t>
            </a:r>
          </a:p>
          <a:p>
            <a:pPr marL="0" indent="0">
              <a:buNone/>
            </a:pPr>
            <a:r>
              <a:rPr dirty="0"/>
              <a:t>• Age Group Distribution</a:t>
            </a:r>
          </a:p>
          <a:p>
            <a:pPr marL="0" indent="0">
              <a:buNone/>
            </a:pPr>
            <a:r>
              <a:rPr dirty="0"/>
              <a:t>• Category Distribution</a:t>
            </a:r>
          </a:p>
          <a:p>
            <a:pPr marL="0" indent="0">
              <a:buNone/>
            </a:pPr>
            <a:r>
              <a:rPr dirty="0"/>
              <a:t>• Payment Method Breakdown</a:t>
            </a:r>
          </a:p>
          <a:p>
            <a:pPr marL="0" indent="0">
              <a:buNone/>
            </a:pPr>
            <a:r>
              <a:rPr dirty="0"/>
              <a:t>• Sales Trend &amp; Category Sales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1571C-D552-AA1A-9154-8DE12F13D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8659290" cy="1400530"/>
          </a:xfrm>
        </p:spPr>
        <p:txBody>
          <a:bodyPr>
            <a:normAutofit fontScale="90000"/>
          </a:bodyPr>
          <a:lstStyle/>
          <a:p>
            <a:r>
              <a:rPr lang="en-US" dirty="0"/>
              <a:t>1. How is the shopping distribution according to gender?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D29775-8242-5A19-CBD8-AD49774F0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6371" y="1774000"/>
            <a:ext cx="5235222" cy="240948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CF4B7B-7B79-DDD7-D82E-F6D00CA64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107" y="4331057"/>
            <a:ext cx="4026090" cy="11737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B4A40F-23ED-8B79-C717-22019E473EDF}"/>
              </a:ext>
            </a:extLst>
          </p:cNvPr>
          <p:cNvSpPr txBox="1"/>
          <p:nvPr/>
        </p:nvSpPr>
        <p:spPr>
          <a:xfrm>
            <a:off x="484710" y="5920685"/>
            <a:ext cx="6980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00B050"/>
                </a:solidFill>
              </a:rPr>
              <a:t>Female customers contribute 59.72% of total shopping — so they shop slightly more overall.</a:t>
            </a:r>
            <a:endParaRPr lang="en-IN" b="1" i="1" u="sng" dirty="0">
              <a:solidFill>
                <a:srgbClr val="00B050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0FFE24E-D850-7332-6810-DD5EB714E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955421"/>
              </p:ext>
            </p:extLst>
          </p:nvPr>
        </p:nvGraphicFramePr>
        <p:xfrm>
          <a:off x="1269242" y="5588758"/>
          <a:ext cx="235268" cy="65509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5268">
                  <a:extLst>
                    <a:ext uri="{9D8B030D-6E8A-4147-A177-3AD203B41FA5}">
                      <a16:colId xmlns:a16="http://schemas.microsoft.com/office/drawing/2014/main" val="455262027"/>
                    </a:ext>
                  </a:extLst>
                </a:gridCol>
              </a:tblGrid>
              <a:tr h="655093"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695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954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A3061-3E93-147C-ACED-A87F2E34A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78E64-9417-0D14-E184-DFE1C97D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4426"/>
            <a:ext cx="8229600" cy="1086702"/>
          </a:xfrm>
        </p:spPr>
        <p:txBody>
          <a:bodyPr>
            <a:normAutofit fontScale="90000"/>
          </a:bodyPr>
          <a:lstStyle/>
          <a:p>
            <a:r>
              <a:rPr lang="en-US" dirty="0"/>
              <a:t>2. Which gender did we sell more products to?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27DA78D-E53B-19FD-250B-A20A12DAA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799" y="1538785"/>
            <a:ext cx="5083791" cy="1890215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432D1A-2AEA-DA5E-F49C-80F766B11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353" y="3616657"/>
            <a:ext cx="4032913" cy="12965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74579A9-AC00-F52A-FB05-A7ACF25743FA}"/>
              </a:ext>
            </a:extLst>
          </p:cNvPr>
          <p:cNvSpPr txBox="1"/>
          <p:nvPr/>
        </p:nvSpPr>
        <p:spPr>
          <a:xfrm>
            <a:off x="1296537" y="5581934"/>
            <a:ext cx="6687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00B050"/>
                </a:solidFill>
              </a:rPr>
              <a:t>Female customers purchased more products overall than male customers.</a:t>
            </a:r>
            <a:endParaRPr lang="en-IN" b="1" i="1" u="sng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183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ECD7A-402E-39B0-2233-DF281A83B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F31CD-C7DF-2575-05A9-619CE3C2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Which gender generated more revenue?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91F4CA8-30BF-F7E0-BC4A-0311AEABF8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9414" y="1866896"/>
            <a:ext cx="4841984" cy="1897209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5901D3-5AFC-F508-6776-CA5706870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992" y="3986875"/>
            <a:ext cx="3682783" cy="12472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0BA03B-C4CE-9E5B-7D6A-459E66F733DC}"/>
              </a:ext>
            </a:extLst>
          </p:cNvPr>
          <p:cNvSpPr txBox="1"/>
          <p:nvPr/>
        </p:nvSpPr>
        <p:spPr>
          <a:xfrm>
            <a:off x="1187355" y="5363570"/>
            <a:ext cx="6796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00B050"/>
                </a:solidFill>
              </a:rPr>
              <a:t>Females customers generates more Revenue  than Male customers. </a:t>
            </a:r>
            <a:endParaRPr lang="en-IN" b="1" i="1" u="sng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394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3FEB5-F7B5-2486-8F6B-203AE189B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D0102-8446-051E-71A1-BAE1537A1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8782120" cy="1400530"/>
          </a:xfrm>
        </p:spPr>
        <p:txBody>
          <a:bodyPr>
            <a:normAutofit fontScale="90000"/>
          </a:bodyPr>
          <a:lstStyle/>
          <a:p>
            <a:r>
              <a:rPr lang="en-US" dirty="0"/>
              <a:t>4. Distribution of purchase categories relative to other columns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F6E1659-B9DF-8FA2-E6FC-3AFE3C961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490" y="1853248"/>
            <a:ext cx="4637285" cy="2811508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992511-C094-3D30-1D25-EB0DB023A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455" y="1853248"/>
            <a:ext cx="4261055" cy="28096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1146BB-6896-B1EC-656C-CF5F904195BE}"/>
              </a:ext>
            </a:extLst>
          </p:cNvPr>
          <p:cNvSpPr txBox="1"/>
          <p:nvPr/>
        </p:nvSpPr>
        <p:spPr>
          <a:xfrm>
            <a:off x="1187355" y="5363570"/>
            <a:ext cx="6796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00B050"/>
                </a:solidFill>
              </a:rPr>
              <a:t>Females buy more Products from every category  overall than Males. </a:t>
            </a:r>
          </a:p>
        </p:txBody>
      </p:sp>
    </p:spTree>
    <p:extLst>
      <p:ext uri="{BB962C8B-B14F-4D97-AF65-F5344CB8AC3E}">
        <p14:creationId xmlns:p14="http://schemas.microsoft.com/office/powerpoint/2010/main" val="407610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A37E5-E969-1896-B867-D6D1BC9DC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9B5D3-DABB-0709-09EB-F6DFDBEA6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36" y="452718"/>
            <a:ext cx="9328245" cy="1400530"/>
          </a:xfrm>
        </p:spPr>
        <p:txBody>
          <a:bodyPr>
            <a:normAutofit/>
          </a:bodyPr>
          <a:lstStyle/>
          <a:p>
            <a:r>
              <a:rPr lang="en-US" dirty="0"/>
              <a:t>5. How is the shopping distribution according to age?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39F566C-677B-A8F3-1991-E9B10A7BF6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074" y="1827071"/>
            <a:ext cx="4640239" cy="3536499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2C5B86-B24A-F5A5-F43E-1F2348EF2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438" y="2029541"/>
            <a:ext cx="3807726" cy="29752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122BDE-C3A7-4782-D8DA-4F9E1323FA81}"/>
              </a:ext>
            </a:extLst>
          </p:cNvPr>
          <p:cNvSpPr txBox="1"/>
          <p:nvPr/>
        </p:nvSpPr>
        <p:spPr>
          <a:xfrm>
            <a:off x="1009934" y="5686735"/>
            <a:ext cx="6796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00B050"/>
                </a:solidFill>
              </a:rPr>
              <a:t>36-45 years group contributes 19.95% of total shopping - so they shop slightly more overall.</a:t>
            </a:r>
          </a:p>
        </p:txBody>
      </p:sp>
    </p:spTree>
    <p:extLst>
      <p:ext uri="{BB962C8B-B14F-4D97-AF65-F5344CB8AC3E}">
        <p14:creationId xmlns:p14="http://schemas.microsoft.com/office/powerpoint/2010/main" val="3387545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B393B-C995-8EFA-578E-CBE9F9CED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6B386-ACD5-36AB-55B8-8853D727D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 Which age cat did we sell more products to?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AFC1715-7AFF-0EF7-B244-563A4F224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710" y="1900226"/>
            <a:ext cx="4266964" cy="3057547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D8D8FA-08D4-699E-D953-3E5D203CD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715" y="2259045"/>
            <a:ext cx="3153777" cy="20090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1E1D0B-B865-BCF8-0A81-E28A23562473}"/>
              </a:ext>
            </a:extLst>
          </p:cNvPr>
          <p:cNvSpPr txBox="1"/>
          <p:nvPr/>
        </p:nvSpPr>
        <p:spPr>
          <a:xfrm>
            <a:off x="1187355" y="5363570"/>
            <a:ext cx="6796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00B050"/>
                </a:solidFill>
              </a:rPr>
              <a:t>The 36–45 years group bought the most products — your top customer segment.</a:t>
            </a:r>
          </a:p>
        </p:txBody>
      </p:sp>
    </p:spTree>
    <p:extLst>
      <p:ext uri="{BB962C8B-B14F-4D97-AF65-F5344CB8AC3E}">
        <p14:creationId xmlns:p14="http://schemas.microsoft.com/office/powerpoint/2010/main" val="4285346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E5EA9-5DE3-074A-3270-184C0E52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2A508-6C55-9E0D-C688-9A552AD9E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7. Which age cat generated more revenue?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BBF6E9-CDCF-98E2-21AF-3C1CBBA88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645" y="1926420"/>
            <a:ext cx="4332963" cy="3005159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64267C-5A57-1D0E-3CEA-D5F404581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913" y="2152969"/>
            <a:ext cx="3422834" cy="23596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E72C27C-8B4F-9D85-260F-7D37DEC4E1D3}"/>
              </a:ext>
            </a:extLst>
          </p:cNvPr>
          <p:cNvSpPr txBox="1"/>
          <p:nvPr/>
        </p:nvSpPr>
        <p:spPr>
          <a:xfrm>
            <a:off x="1030406" y="5221064"/>
            <a:ext cx="7069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u="sng" dirty="0">
                <a:solidFill>
                  <a:srgbClr val="00B050"/>
                </a:solidFill>
              </a:rPr>
              <a:t>36-45 years Group customers generates more Revenue.</a:t>
            </a:r>
            <a:endParaRPr lang="en-IN" b="1" i="1" u="sng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015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C9A93-BC07-742C-A2AD-667723BE7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F698-9300-C6C3-F4C4-A20ABDFC2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09" y="452718"/>
            <a:ext cx="8543285" cy="1400530"/>
          </a:xfrm>
        </p:spPr>
        <p:txBody>
          <a:bodyPr>
            <a:normAutofit fontScale="90000"/>
          </a:bodyPr>
          <a:lstStyle/>
          <a:p>
            <a:r>
              <a:rPr lang="en-US" dirty="0"/>
              <a:t>8. Does the payment method have a relation with other columns?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8DE9571-0DEA-8063-BD5D-3ED9DCA859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241" y="2538282"/>
            <a:ext cx="4865346" cy="2466471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F31D43-9C72-6F27-46F2-0194A2C9F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765" y="2538282"/>
            <a:ext cx="3765230" cy="23914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2A4C11B-8A1C-D6AB-9DF0-270789B8C1E0}"/>
              </a:ext>
            </a:extLst>
          </p:cNvPr>
          <p:cNvSpPr txBox="1"/>
          <p:nvPr/>
        </p:nvSpPr>
        <p:spPr>
          <a:xfrm>
            <a:off x="1030406" y="5207416"/>
            <a:ext cx="7069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u="sng" dirty="0">
                <a:solidFill>
                  <a:srgbClr val="00B050"/>
                </a:solidFill>
              </a:rPr>
              <a:t>Males &amp; Females both prefers a Cash payment mode.</a:t>
            </a:r>
            <a:endParaRPr lang="en-IN" b="1" i="1" u="sng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635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CDC12-9243-0C5D-AAE5-0D9AFF4C6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8A65-5A53-22B0-82C8-FCECBD8B5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8563756" cy="1400530"/>
          </a:xfrm>
        </p:spPr>
        <p:txBody>
          <a:bodyPr>
            <a:normAutofit fontScale="90000"/>
          </a:bodyPr>
          <a:lstStyle/>
          <a:p>
            <a:r>
              <a:rPr lang="en-US" dirty="0"/>
              <a:t>8. Does the payment method have a relation with other columns?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14D50A-6470-8CDC-F9C2-A163448C6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313" y="2124228"/>
            <a:ext cx="4612943" cy="336776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AB94CC-EE70-885C-8F85-E2C003B53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334" y="1759136"/>
            <a:ext cx="3335466" cy="39008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1FB206-3F70-15F2-CB56-9423FAA99305}"/>
              </a:ext>
            </a:extLst>
          </p:cNvPr>
          <p:cNvSpPr txBox="1"/>
          <p:nvPr/>
        </p:nvSpPr>
        <p:spPr>
          <a:xfrm>
            <a:off x="730155" y="5660032"/>
            <a:ext cx="80112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u="sng" dirty="0">
                <a:solidFill>
                  <a:srgbClr val="00B050"/>
                </a:solidFill>
              </a:rPr>
              <a:t>It Shows how age influences payment preference (you might find that younger people use cards, while older ones use cash).</a:t>
            </a:r>
          </a:p>
        </p:txBody>
      </p:sp>
    </p:spTree>
    <p:extLst>
      <p:ext uri="{BB962C8B-B14F-4D97-AF65-F5344CB8AC3E}">
        <p14:creationId xmlns:p14="http://schemas.microsoft.com/office/powerpoint/2010/main" val="2998737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CAB4C-F674-0E0E-E519-3533E9B54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654C8-A64B-9ABF-6DC1-C378D47BE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9. How is the distribution of the payment method?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0632B73-D33D-388E-5B6C-3E92C5EC24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0675" y="1858683"/>
            <a:ext cx="5367808" cy="2298585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09A078-2572-0B0E-DC37-E1CC16C0F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232" y="4246842"/>
            <a:ext cx="3252191" cy="11452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9D4C68-BB11-AB59-12BF-330BEC0D299E}"/>
              </a:ext>
            </a:extLst>
          </p:cNvPr>
          <p:cNvSpPr txBox="1"/>
          <p:nvPr/>
        </p:nvSpPr>
        <p:spPr>
          <a:xfrm>
            <a:off x="1030406" y="5591191"/>
            <a:ext cx="7069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u="sng" dirty="0">
                <a:solidFill>
                  <a:srgbClr val="00B050"/>
                </a:solidFill>
              </a:rPr>
              <a:t>Most customers used Cash, followed by Credit Card, then Debit Card.</a:t>
            </a:r>
            <a:endParaRPr lang="en-IN" b="1" i="1" u="sng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288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1D628F-7EE9-D9A0-98C4-0A325B782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4" y="743803"/>
            <a:ext cx="9001191" cy="552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753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Women and middle-aged customers are the strongest contributors to business revenue.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Clothing and Shoes are the dominant product drivers.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Cash remains the primary payment choice, indicating possible digital adoption barriers.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Some categories show low revenue despite moderate purchase counts.</a:t>
            </a:r>
            <a:endParaRPr sz="2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Recommendations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company should </a:t>
            </a:r>
            <a:r>
              <a:rPr lang="en-US" b="1" dirty="0"/>
              <a:t>prioritize female shoppers</a:t>
            </a:r>
            <a:r>
              <a:rPr lang="en-US" dirty="0"/>
              <a:t>, </a:t>
            </a:r>
            <a:r>
              <a:rPr lang="en-US" b="1" dirty="0"/>
              <a:t>focus on middle-aged customers</a:t>
            </a:r>
            <a:r>
              <a:rPr lang="en-US" dirty="0"/>
              <a:t>, </a:t>
            </a:r>
            <a:r>
              <a:rPr lang="en-US" b="1" dirty="0"/>
              <a:t>promote high-value categories</a:t>
            </a:r>
            <a:r>
              <a:rPr lang="en-US" dirty="0"/>
              <a:t>, and </a:t>
            </a:r>
            <a:r>
              <a:rPr lang="en-US" b="1" dirty="0"/>
              <a:t>speed up digital payment adoption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These steps will </a:t>
            </a:r>
            <a:r>
              <a:rPr lang="en-US" b="1" dirty="0"/>
              <a:t>increase sales</a:t>
            </a:r>
            <a:r>
              <a:rPr lang="en-US" dirty="0"/>
              <a:t>, improve customer loyalty, and strengthen business performance.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636AF-8690-FE5D-8C7D-F3B40E340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176" y="1728784"/>
            <a:ext cx="8208914" cy="1400530"/>
          </a:xfrm>
        </p:spPr>
        <p:txBody>
          <a:bodyPr/>
          <a:lstStyle/>
          <a:p>
            <a:r>
              <a:rPr lang="en-US" sz="11500" dirty="0"/>
              <a:t>Thank You!</a:t>
            </a:r>
            <a:endParaRPr lang="en-IN" sz="11500" dirty="0"/>
          </a:p>
        </p:txBody>
      </p:sp>
      <p:pic>
        <p:nvPicPr>
          <p:cNvPr id="5" name="Content Placeholder 4" descr="Angel face with solid fill with solid fill">
            <a:extLst>
              <a:ext uri="{FF2B5EF4-FFF2-40B4-BE49-F238E27FC236}">
                <a16:creationId xmlns:a16="http://schemas.microsoft.com/office/drawing/2014/main" id="{14B76D5A-73BE-894B-A67E-8F0F6BF5B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0495" y="3604607"/>
            <a:ext cx="2859205" cy="2197265"/>
          </a:xfrm>
        </p:spPr>
      </p:pic>
    </p:spTree>
    <p:extLst>
      <p:ext uri="{BB962C8B-B14F-4D97-AF65-F5344CB8AC3E}">
        <p14:creationId xmlns:p14="http://schemas.microsoft.com/office/powerpoint/2010/main" val="3289978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91</TotalTime>
  <Words>457</Words>
  <Application>Microsoft Office PowerPoint</Application>
  <PresentationFormat>On-screen Show (4:3)</PresentationFormat>
  <Paragraphs>49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Century Gothic</vt:lpstr>
      <vt:lpstr>Wingdings</vt:lpstr>
      <vt:lpstr>Wingdings 3</vt:lpstr>
      <vt:lpstr>Ion</vt:lpstr>
      <vt:lpstr>    Customer Segmentation &amp; Shopping Behavior Analysis</vt:lpstr>
      <vt:lpstr>Project Overview</vt:lpstr>
      <vt:lpstr>Dataset Description</vt:lpstr>
      <vt:lpstr>Dashboard Components</vt:lpstr>
      <vt:lpstr>1. How is the shopping distribution according to gender?</vt:lpstr>
      <vt:lpstr>2. Which gender did we sell more products to?</vt:lpstr>
      <vt:lpstr>3. Which gender generated more revenue?</vt:lpstr>
      <vt:lpstr>4. Distribution of purchase categories relative to other columns</vt:lpstr>
      <vt:lpstr>5. How is the shopping distribution according to age?</vt:lpstr>
      <vt:lpstr>6. Which age cat did we sell more products to?</vt:lpstr>
      <vt:lpstr>7. Which age cat generated more revenue?</vt:lpstr>
      <vt:lpstr>8. Does the payment method have a relation with other columns?</vt:lpstr>
      <vt:lpstr>8. Does the payment method have a relation with other columns?</vt:lpstr>
      <vt:lpstr>9. How is the distribution of the payment method?</vt:lpstr>
      <vt:lpstr>PowerPoint Presentation</vt:lpstr>
      <vt:lpstr>Key Insights</vt:lpstr>
      <vt:lpstr>Final Recommendations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Vinayak Mandale</cp:lastModifiedBy>
  <cp:revision>8</cp:revision>
  <dcterms:created xsi:type="dcterms:W3CDTF">2013-01-27T09:14:16Z</dcterms:created>
  <dcterms:modified xsi:type="dcterms:W3CDTF">2025-11-20T10:50:03Z</dcterms:modified>
  <cp:category/>
</cp:coreProperties>
</file>